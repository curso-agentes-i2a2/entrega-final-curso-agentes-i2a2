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url?sa=E&amp;q=mailto%3Apedrosa.camg%40gmail.com" TargetMode="External"/><Relationship Id="rId3" Type="http://schemas.openxmlformats.org/officeDocument/2006/relationships/hyperlink" Target="https://www.google.com/url?sa=E&amp;q=mailto%3Ajsribeiro123%40gmail.com" TargetMode="External"/><Relationship Id="rId7" Type="http://schemas.openxmlformats.org/officeDocument/2006/relationships/hyperlink" Target="https://www.google.com/url?sa=E&amp;q=mailto%3Athi.Henriquemaia%40gmail.com" TargetMode="External"/><Relationship Id="rId2" Type="http://schemas.openxmlformats.org/officeDocument/2006/relationships/hyperlink" Target="https://www.google.com/url?sa=E&amp;q=mailto%3Ayadiradiazgaleano%40yahoo.com.b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url?sa=E&amp;q=mailto%3Arxlemos%40gmail.com" TargetMode="External"/><Relationship Id="rId5" Type="http://schemas.openxmlformats.org/officeDocument/2006/relationships/hyperlink" Target="https://www.google.com/url?sa=E&amp;q=mailto%3AGbrognoli53%40gmail.com" TargetMode="External"/><Relationship Id="rId4" Type="http://schemas.openxmlformats.org/officeDocument/2006/relationships/hyperlink" Target="https://www.google.com/url?sa=E&amp;q=mailto%3Alucasgnuzinho%40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5B3DF-6156-4E54-B8F2-64DFFBBC81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4800" dirty="0"/>
              <a:t>Sistema de Auditoria de Notas Fiscais Eletrônicas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7E9B73-8250-451A-A9CE-FF27739D9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67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EE973-C192-40E9-8BCF-8B7950AF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545531-4095-4A2E-8841-0F4E2CE37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Proposta</a:t>
            </a:r>
            <a:r>
              <a:rPr lang="pt-BR" dirty="0"/>
              <a:t>: Um agente inteligente para auditoria automatizada de Notas Fiscais Eletrônicas (NF-e).</a:t>
            </a:r>
          </a:p>
          <a:p>
            <a:endParaRPr lang="pt-BR" dirty="0"/>
          </a:p>
          <a:p>
            <a:r>
              <a:rPr lang="pt-BR" b="1" dirty="0"/>
              <a:t>Objetivo</a:t>
            </a:r>
            <a:r>
              <a:rPr lang="pt-BR" dirty="0"/>
              <a:t>: Explorar funcionalidades, benefícios e o impacto positivo para a conformidade fiscal e financeira.</a:t>
            </a:r>
          </a:p>
          <a:p>
            <a:endParaRPr lang="pt-BR" dirty="0"/>
          </a:p>
          <a:p>
            <a:r>
              <a:rPr lang="pt-BR" b="1" dirty="0"/>
              <a:t>Problema</a:t>
            </a:r>
            <a:r>
              <a:rPr lang="pt-BR" dirty="0"/>
              <a:t>: A legislação tributária brasileira é extensa e dinâmica, tornando os processos manuais lentos e propensos a erros.</a:t>
            </a:r>
          </a:p>
          <a:p>
            <a:endParaRPr lang="pt-BR" dirty="0"/>
          </a:p>
          <a:p>
            <a:r>
              <a:rPr lang="pt-BR" b="1" dirty="0"/>
              <a:t>Solução</a:t>
            </a:r>
            <a:r>
              <a:rPr lang="pt-BR" dirty="0"/>
              <a:t>: Uma combinação de agentes de IA e RAG (</a:t>
            </a:r>
            <a:r>
              <a:rPr lang="pt-BR" dirty="0" err="1"/>
              <a:t>Retrieval-Augmented</a:t>
            </a:r>
            <a:r>
              <a:rPr lang="pt-BR" dirty="0"/>
              <a:t> </a:t>
            </a:r>
            <a:r>
              <a:rPr lang="pt-BR" dirty="0" err="1"/>
              <a:t>Generation</a:t>
            </a:r>
            <a:r>
              <a:rPr lang="pt-BR" dirty="0"/>
              <a:t>) para entregar velocidade, precisão e </a:t>
            </a:r>
            <a:r>
              <a:rPr lang="pt-BR" dirty="0" err="1"/>
              <a:t>explicabilidade</a:t>
            </a:r>
            <a:r>
              <a:rPr lang="pt-BR" dirty="0"/>
              <a:t>, reduzindo custos e aumentando a conformidade.</a:t>
            </a:r>
          </a:p>
        </p:txBody>
      </p:sp>
    </p:spTree>
    <p:extLst>
      <p:ext uri="{BB962C8B-B14F-4D97-AF65-F5344CB8AC3E}">
        <p14:creationId xmlns:p14="http://schemas.microsoft.com/office/powerpoint/2010/main" val="765955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D6B77-CFC9-4CE2-B8B2-B22DCE93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Visão Geral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21729A-27F1-483C-9A75-40CA86569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Descrição:</a:t>
            </a:r>
            <a:r>
              <a:rPr lang="pt-BR" dirty="0"/>
              <a:t> Uma aplicação modular de </a:t>
            </a:r>
            <a:r>
              <a:rPr lang="pt-BR" dirty="0" err="1"/>
              <a:t>microsserviços</a:t>
            </a:r>
            <a:r>
              <a:rPr lang="pt-BR" dirty="0"/>
              <a:t> projetada para automatizar a auditoria de documentos fiscais.</a:t>
            </a:r>
          </a:p>
          <a:p>
            <a:r>
              <a:rPr lang="pt-BR" b="1" dirty="0"/>
              <a:t>Tecnologias:</a:t>
            </a:r>
            <a:endParaRPr lang="pt-BR" dirty="0"/>
          </a:p>
          <a:p>
            <a:pPr lvl="1"/>
            <a:r>
              <a:rPr lang="pt-BR" b="1" dirty="0" err="1"/>
              <a:t>Backend</a:t>
            </a:r>
            <a:r>
              <a:rPr lang="pt-BR" b="1" dirty="0"/>
              <a:t>:</a:t>
            </a:r>
            <a:r>
              <a:rPr lang="pt-BR" dirty="0"/>
              <a:t> </a:t>
            </a:r>
            <a:r>
              <a:rPr lang="pt-BR" dirty="0" err="1"/>
              <a:t>FastAPI</a:t>
            </a:r>
            <a:r>
              <a:rPr lang="pt-BR" dirty="0"/>
              <a:t> como orquestrador principal.</a:t>
            </a:r>
          </a:p>
          <a:p>
            <a:pPr lvl="1"/>
            <a:r>
              <a:rPr lang="pt-BR" b="1" dirty="0"/>
              <a:t>Inteligência Artificial:</a:t>
            </a:r>
            <a:r>
              <a:rPr lang="pt-BR" dirty="0"/>
              <a:t> Agentes especializados (auditoria, validação, dados sintéticos) e RAG para busca semântica sobre legislação.</a:t>
            </a:r>
          </a:p>
          <a:p>
            <a:pPr lvl="1"/>
            <a:r>
              <a:rPr lang="pt-BR" b="1" dirty="0" err="1"/>
              <a:t>Frontend</a:t>
            </a:r>
            <a:r>
              <a:rPr lang="pt-BR" b="1" dirty="0"/>
              <a:t>:</a:t>
            </a:r>
            <a:r>
              <a:rPr lang="pt-BR" dirty="0"/>
              <a:t> </a:t>
            </a:r>
            <a:r>
              <a:rPr lang="pt-BR" dirty="0" err="1"/>
              <a:t>Streamlit</a:t>
            </a:r>
            <a:r>
              <a:rPr lang="pt-BR" dirty="0"/>
              <a:t> para operação e relatórios.</a:t>
            </a:r>
          </a:p>
          <a:p>
            <a:r>
              <a:rPr lang="pt-BR" b="1" dirty="0"/>
              <a:t>Principais Características:</a:t>
            </a:r>
            <a:endParaRPr lang="pt-BR" dirty="0"/>
          </a:p>
          <a:p>
            <a:pPr lvl="1"/>
            <a:r>
              <a:rPr lang="pt-BR" dirty="0"/>
              <a:t>Processamento de Documentos (NF-e versões 3.10 e 4.00).</a:t>
            </a:r>
          </a:p>
          <a:p>
            <a:pPr lvl="1"/>
            <a:r>
              <a:rPr lang="pt-BR" dirty="0"/>
              <a:t>Validação Fiscal (ICMS, IPI, PIS, COFINS).</a:t>
            </a:r>
          </a:p>
          <a:p>
            <a:pPr lvl="1"/>
            <a:r>
              <a:rPr lang="pt-BR" dirty="0"/>
              <a:t>Auditoria Automatizada.</a:t>
            </a:r>
          </a:p>
          <a:p>
            <a:pPr lvl="1"/>
            <a:r>
              <a:rPr lang="pt-BR" dirty="0"/>
              <a:t>Processamento Assíncrono para alta performance.</a:t>
            </a:r>
          </a:p>
          <a:p>
            <a:pPr lvl="1"/>
            <a:r>
              <a:rPr lang="pt-BR" dirty="0"/>
              <a:t>Dashboard Estatístico em tempo real.</a:t>
            </a:r>
          </a:p>
          <a:p>
            <a:pPr lvl="1"/>
            <a:r>
              <a:rPr lang="pt-BR" dirty="0"/>
              <a:t>Geração de Dados Sintéticos.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439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79FD8-54B6-437C-B4E5-B4F2C671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Público-Alvo: Quem se Beneficia?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699BDD-25F9-4A9D-A1A3-A0F8B2F06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Conformidade Legal/Fiscal:</a:t>
            </a:r>
            <a:r>
              <a:rPr lang="pt-BR" dirty="0"/>
              <a:t> Fundamental para evitar problemas.</a:t>
            </a:r>
          </a:p>
          <a:p>
            <a:endParaRPr lang="pt-BR" dirty="0"/>
          </a:p>
          <a:p>
            <a:r>
              <a:rPr lang="pt-BR" b="1" dirty="0"/>
              <a:t>Prevenção de Fraudes:</a:t>
            </a:r>
            <a:r>
              <a:rPr lang="pt-BR" dirty="0"/>
              <a:t> Identificação proativa de irregularidades.</a:t>
            </a:r>
          </a:p>
          <a:p>
            <a:endParaRPr lang="pt-BR" dirty="0"/>
          </a:p>
          <a:p>
            <a:r>
              <a:rPr lang="pt-BR" b="1" dirty="0"/>
              <a:t>Redução de Perdas:</a:t>
            </a:r>
            <a:r>
              <a:rPr lang="pt-BR" dirty="0"/>
              <a:t> Correção de erros que geram prejuízos.</a:t>
            </a:r>
          </a:p>
          <a:p>
            <a:endParaRPr lang="pt-BR" dirty="0"/>
          </a:p>
          <a:p>
            <a:r>
              <a:rPr lang="pt-BR" b="1" dirty="0"/>
              <a:t>Evitar Multas:</a:t>
            </a:r>
            <a:r>
              <a:rPr lang="pt-BR" dirty="0"/>
              <a:t> Mitigação de riscos legais e financeiros.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011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61CA6-D00D-4C27-AD4C-07954D0A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da Auditoria Inteligente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563E1C-651E-42B7-88C8-DF53FC6C8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Auditoria Manual:</a:t>
            </a:r>
            <a:endParaRPr lang="pt-BR" dirty="0"/>
          </a:p>
          <a:p>
            <a:pPr lvl="1"/>
            <a:r>
              <a:rPr lang="pt-BR" dirty="0"/>
              <a:t>Trabalhosa e demorada.</a:t>
            </a:r>
          </a:p>
          <a:p>
            <a:pPr lvl="1"/>
            <a:r>
              <a:rPr lang="pt-BR" dirty="0"/>
              <a:t>Sujeita a erros humanos.</a:t>
            </a:r>
          </a:p>
          <a:p>
            <a:pPr lvl="1"/>
            <a:r>
              <a:rPr lang="pt-BR" dirty="0"/>
              <a:t>Custosa.</a:t>
            </a:r>
          </a:p>
          <a:p>
            <a:r>
              <a:rPr lang="pt-BR" b="1" dirty="0"/>
              <a:t>Agente Inteligente:</a:t>
            </a:r>
            <a:endParaRPr lang="pt-BR" dirty="0"/>
          </a:p>
          <a:p>
            <a:pPr lvl="1"/>
            <a:r>
              <a:rPr lang="pt-BR" dirty="0"/>
              <a:t>Aumento da eficiência.</a:t>
            </a:r>
          </a:p>
          <a:p>
            <a:pPr lvl="1"/>
            <a:r>
              <a:rPr lang="pt-BR" dirty="0"/>
              <a:t>Redução de erros e riscos.</a:t>
            </a:r>
          </a:p>
          <a:p>
            <a:pPr lvl="1"/>
            <a:r>
              <a:rPr lang="pt-BR" dirty="0"/>
              <a:t>Otimização de recursos.</a:t>
            </a:r>
          </a:p>
          <a:p>
            <a:pPr lvl="1"/>
            <a:r>
              <a:rPr lang="pt-BR" dirty="0"/>
              <a:t>Segurança e rastreabilidade.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8896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F21D9-BAC7-4DE2-845B-E1CD776B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Arquitetura Geral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CDBCC-BE10-40B9-8FAF-9BB197A64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7383379" cy="4024125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Visão Arquitetural:</a:t>
            </a:r>
            <a:endParaRPr lang="pt-BR" dirty="0"/>
          </a:p>
          <a:p>
            <a:pPr lvl="1"/>
            <a:r>
              <a:rPr lang="pt-BR" dirty="0" err="1"/>
              <a:t>Monorepo</a:t>
            </a:r>
            <a:r>
              <a:rPr lang="pt-BR" dirty="0"/>
              <a:t> orquestrado pelo Docker </a:t>
            </a:r>
            <a:r>
              <a:rPr lang="pt-BR" dirty="0" err="1"/>
              <a:t>Compose</a:t>
            </a:r>
            <a:r>
              <a:rPr lang="pt-BR" dirty="0"/>
              <a:t>.</a:t>
            </a:r>
          </a:p>
          <a:p>
            <a:pPr lvl="1"/>
            <a:r>
              <a:rPr lang="pt-BR" b="1" dirty="0" err="1"/>
              <a:t>Backend</a:t>
            </a:r>
            <a:r>
              <a:rPr lang="pt-BR" b="1" dirty="0"/>
              <a:t> (porta 8000):</a:t>
            </a:r>
            <a:r>
              <a:rPr lang="pt-BR" dirty="0"/>
              <a:t> Serviço principal ("Gerente").</a:t>
            </a:r>
          </a:p>
          <a:p>
            <a:pPr lvl="1"/>
            <a:r>
              <a:rPr lang="pt-BR" b="1" dirty="0" err="1"/>
              <a:t>Agents</a:t>
            </a:r>
            <a:r>
              <a:rPr lang="pt-BR" b="1" dirty="0"/>
              <a:t> (porta 8002):</a:t>
            </a:r>
            <a:r>
              <a:rPr lang="pt-BR" dirty="0"/>
              <a:t> Serviço de IA "cérebro" para cálculos de auditoria.</a:t>
            </a:r>
          </a:p>
          <a:p>
            <a:pPr lvl="1"/>
            <a:r>
              <a:rPr lang="pt-BR" b="1" dirty="0"/>
              <a:t>RAG (porta 8001):</a:t>
            </a:r>
            <a:r>
              <a:rPr lang="pt-BR" dirty="0"/>
              <a:t> Serviço "biblioteca" para busca de legislação.</a:t>
            </a:r>
          </a:p>
          <a:p>
            <a:pPr lvl="1"/>
            <a:r>
              <a:rPr lang="pt-BR" b="1" dirty="0" err="1"/>
              <a:t>Frontend</a:t>
            </a:r>
            <a:r>
              <a:rPr lang="pt-BR" b="1" dirty="0"/>
              <a:t> (porta 8501):</a:t>
            </a:r>
            <a:r>
              <a:rPr lang="pt-BR" dirty="0"/>
              <a:t> Interface de usuário </a:t>
            </a:r>
            <a:r>
              <a:rPr lang="pt-BR" dirty="0" err="1"/>
              <a:t>Streamlit</a:t>
            </a:r>
            <a:r>
              <a:rPr lang="pt-BR" dirty="0"/>
              <a:t>.</a:t>
            </a:r>
          </a:p>
          <a:p>
            <a:r>
              <a:rPr lang="pt-BR" b="1" dirty="0"/>
              <a:t>Padrões de Design:</a:t>
            </a:r>
            <a:endParaRPr lang="pt-BR" dirty="0"/>
          </a:p>
          <a:p>
            <a:pPr lvl="1"/>
            <a:r>
              <a:rPr lang="pt-BR" dirty="0" err="1"/>
              <a:t>Model-View-Controller</a:t>
            </a:r>
            <a:r>
              <a:rPr lang="pt-BR" dirty="0"/>
              <a:t> (MVC).</a:t>
            </a:r>
          </a:p>
          <a:p>
            <a:pPr lvl="1"/>
            <a:r>
              <a:rPr lang="pt-BR" dirty="0" err="1"/>
              <a:t>Repository</a:t>
            </a:r>
            <a:r>
              <a:rPr lang="pt-BR" dirty="0"/>
              <a:t> </a:t>
            </a:r>
            <a:r>
              <a:rPr lang="pt-BR" dirty="0" err="1"/>
              <a:t>Pattern</a:t>
            </a:r>
            <a:r>
              <a:rPr lang="pt-BR" dirty="0"/>
              <a:t>.</a:t>
            </a:r>
          </a:p>
          <a:p>
            <a:pPr lvl="1"/>
            <a:r>
              <a:rPr lang="pt-BR" dirty="0" err="1"/>
              <a:t>Dependency</a:t>
            </a:r>
            <a:r>
              <a:rPr lang="pt-BR" dirty="0"/>
              <a:t> </a:t>
            </a:r>
            <a:r>
              <a:rPr lang="pt-BR" dirty="0" err="1"/>
              <a:t>Injection</a:t>
            </a:r>
            <a:r>
              <a:rPr lang="pt-BR" dirty="0"/>
              <a:t>.</a:t>
            </a:r>
          </a:p>
          <a:p>
            <a:pPr lvl="1"/>
            <a:r>
              <a:rPr lang="pt-BR" dirty="0" err="1"/>
              <a:t>Factory</a:t>
            </a:r>
            <a:r>
              <a:rPr lang="pt-BR" dirty="0"/>
              <a:t> </a:t>
            </a:r>
            <a:r>
              <a:rPr lang="pt-BR" dirty="0" err="1"/>
              <a:t>Pattern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124004C0-595E-4E33-ACFA-333807E8743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324850" y="1818135"/>
            <a:ext cx="3181350" cy="44005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2529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9E25B-8628-4FB9-94C7-57A00245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Módulo </a:t>
            </a:r>
            <a:r>
              <a:rPr lang="pt-BR" dirty="0" err="1"/>
              <a:t>Backend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B153CE-5167-4413-8DEF-2E8CF50FB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Responsabilidades:</a:t>
            </a:r>
            <a:endParaRPr lang="pt-BR" dirty="0"/>
          </a:p>
          <a:p>
            <a:pPr lvl="1"/>
            <a:r>
              <a:rPr lang="pt-BR" dirty="0"/>
              <a:t>Persistência de dados.</a:t>
            </a:r>
          </a:p>
          <a:p>
            <a:pPr lvl="1"/>
            <a:r>
              <a:rPr lang="pt-BR" dirty="0"/>
              <a:t>Orquestração de serviços.</a:t>
            </a:r>
          </a:p>
          <a:p>
            <a:pPr lvl="1"/>
            <a:r>
              <a:rPr lang="pt-BR" dirty="0"/>
              <a:t>Exposição da API principal para o </a:t>
            </a:r>
            <a:r>
              <a:rPr lang="pt-BR" dirty="0" err="1"/>
              <a:t>frontend</a:t>
            </a:r>
            <a:r>
              <a:rPr lang="pt-BR" dirty="0"/>
              <a:t>.</a:t>
            </a:r>
          </a:p>
          <a:p>
            <a:r>
              <a:rPr lang="pt-BR" b="1" dirty="0"/>
              <a:t>Estrutura de Diretórios:</a:t>
            </a:r>
            <a:endParaRPr lang="pt-BR" dirty="0"/>
          </a:p>
          <a:p>
            <a:pPr lvl="1"/>
            <a:r>
              <a:rPr lang="pt-BR" dirty="0" err="1"/>
              <a:t>src</a:t>
            </a:r>
            <a:r>
              <a:rPr lang="pt-BR" dirty="0"/>
              <a:t>/: Módulos de processamento core.</a:t>
            </a:r>
          </a:p>
          <a:p>
            <a:pPr lvl="1"/>
            <a:r>
              <a:rPr lang="pt-BR" dirty="0" err="1"/>
              <a:t>api</a:t>
            </a:r>
            <a:r>
              <a:rPr lang="pt-BR" dirty="0"/>
              <a:t>/: Camada de apresentação (</a:t>
            </a:r>
            <a:r>
              <a:rPr lang="pt-BR" dirty="0" err="1"/>
              <a:t>endpoints</a:t>
            </a:r>
            <a:r>
              <a:rPr lang="pt-BR" dirty="0"/>
              <a:t>).</a:t>
            </a:r>
          </a:p>
          <a:p>
            <a:pPr lvl="1"/>
            <a:r>
              <a:rPr lang="pt-BR" dirty="0" err="1"/>
              <a:t>models</a:t>
            </a:r>
            <a:r>
              <a:rPr lang="pt-BR" dirty="0"/>
              <a:t>/: Modelos </a:t>
            </a:r>
            <a:r>
              <a:rPr lang="pt-BR" dirty="0" err="1"/>
              <a:t>ORM</a:t>
            </a:r>
            <a:r>
              <a:rPr lang="pt-BR" dirty="0"/>
              <a:t>.</a:t>
            </a:r>
          </a:p>
          <a:p>
            <a:pPr lvl="1"/>
            <a:r>
              <a:rPr lang="pt-BR" dirty="0" err="1"/>
              <a:t>schemas</a:t>
            </a:r>
            <a:r>
              <a:rPr lang="pt-BR" dirty="0"/>
              <a:t>/: Validação </a:t>
            </a:r>
            <a:r>
              <a:rPr lang="pt-BR" dirty="0" err="1"/>
              <a:t>Pydantic</a:t>
            </a:r>
            <a:r>
              <a:rPr lang="pt-BR" dirty="0"/>
              <a:t> (</a:t>
            </a:r>
            <a:r>
              <a:rPr lang="pt-BR" dirty="0" err="1"/>
              <a:t>DTOs</a:t>
            </a:r>
            <a:r>
              <a:rPr lang="pt-BR" dirty="0"/>
              <a:t>).</a:t>
            </a:r>
          </a:p>
          <a:p>
            <a:pPr lvl="1"/>
            <a:r>
              <a:rPr lang="pt-BR" dirty="0" err="1"/>
              <a:t>services</a:t>
            </a:r>
            <a:r>
              <a:rPr lang="pt-BR" dirty="0"/>
              <a:t>/: Lógica de negócio.</a:t>
            </a:r>
          </a:p>
          <a:p>
            <a:pPr lvl="1"/>
            <a:r>
              <a:rPr lang="pt-BR" dirty="0" err="1"/>
              <a:t>database</a:t>
            </a:r>
            <a:r>
              <a:rPr lang="pt-BR" dirty="0"/>
              <a:t>/: Configuração do banco de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533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2EA2B-485C-490A-A9EF-276763BD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 </a:t>
            </a:r>
            <a:r>
              <a:rPr lang="pt-BR" dirty="0" err="1"/>
              <a:t>Agents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A00B2E-13B2-4E27-B27E-BF8D30C4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Responsabilidades:</a:t>
            </a:r>
            <a:endParaRPr lang="pt-BR" dirty="0"/>
          </a:p>
          <a:p>
            <a:pPr lvl="1"/>
            <a:r>
              <a:rPr lang="pt-BR" dirty="0"/>
              <a:t>Serviço "cérebro" (porta 8002), sem estado.</a:t>
            </a:r>
          </a:p>
          <a:p>
            <a:pPr lvl="1"/>
            <a:r>
              <a:rPr lang="pt-BR" dirty="0"/>
              <a:t>Receber dados de uma NF-e.</a:t>
            </a:r>
          </a:p>
          <a:p>
            <a:pPr lvl="1"/>
            <a:r>
              <a:rPr lang="pt-BR" dirty="0"/>
              <a:t>Executar a lógica de IA.</a:t>
            </a:r>
          </a:p>
          <a:p>
            <a:pPr lvl="1"/>
            <a:r>
              <a:rPr lang="pt-BR" dirty="0"/>
              <a:t>Retornar um resultado.</a:t>
            </a:r>
          </a:p>
          <a:p>
            <a:r>
              <a:rPr lang="pt-BR" b="1" dirty="0"/>
              <a:t>Funcionalidades:</a:t>
            </a:r>
            <a:endParaRPr lang="pt-BR" dirty="0"/>
          </a:p>
          <a:p>
            <a:pPr lvl="1"/>
            <a:r>
              <a:rPr lang="pt-BR" b="1" dirty="0" err="1"/>
              <a:t>AgentCoordinator</a:t>
            </a:r>
            <a:r>
              <a:rPr lang="pt-BR" b="1" dirty="0"/>
              <a:t>:</a:t>
            </a:r>
            <a:r>
              <a:rPr lang="pt-BR" dirty="0"/>
              <a:t> Orquestra o fluxo interno.</a:t>
            </a:r>
          </a:p>
          <a:p>
            <a:pPr lvl="1"/>
            <a:r>
              <a:rPr lang="pt-BR" b="1" dirty="0" err="1"/>
              <a:t>ValidationAgent</a:t>
            </a:r>
            <a:r>
              <a:rPr lang="pt-BR" b="1" dirty="0"/>
              <a:t>:</a:t>
            </a:r>
            <a:r>
              <a:rPr lang="pt-BR" dirty="0"/>
              <a:t> Executa validações técnicas.</a:t>
            </a:r>
          </a:p>
          <a:p>
            <a:pPr lvl="1"/>
            <a:r>
              <a:rPr lang="pt-BR" b="1" dirty="0" err="1"/>
              <a:t>AuditAgent</a:t>
            </a:r>
            <a:r>
              <a:rPr lang="pt-BR" b="1" dirty="0"/>
              <a:t>:</a:t>
            </a:r>
            <a:r>
              <a:rPr lang="pt-BR" dirty="0"/>
              <a:t> Executa a lógica de IA (</a:t>
            </a:r>
            <a:r>
              <a:rPr lang="pt-BR" dirty="0" err="1"/>
              <a:t>LLM</a:t>
            </a:r>
            <a:r>
              <a:rPr lang="pt-BR" dirty="0"/>
              <a:t>), possivelmente chamando o </a:t>
            </a:r>
            <a:r>
              <a:rPr lang="pt-BR" dirty="0" err="1"/>
              <a:t>RAGTool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928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1FC19-AB11-42C7-85DA-06CED691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 RAG (</a:t>
            </a:r>
            <a:r>
              <a:rPr lang="pt-BR" dirty="0" err="1"/>
              <a:t>Retrieval-Augmented</a:t>
            </a:r>
            <a:r>
              <a:rPr lang="pt-BR" dirty="0"/>
              <a:t> </a:t>
            </a:r>
            <a:r>
              <a:rPr lang="pt-BR" dirty="0" err="1"/>
              <a:t>Generation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B54E8-465A-4329-B6D0-FF67277F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Responsabilidades:</a:t>
            </a:r>
            <a:endParaRPr lang="pt-BR" dirty="0"/>
          </a:p>
          <a:p>
            <a:pPr lvl="1"/>
            <a:r>
              <a:rPr lang="pt-BR" dirty="0"/>
              <a:t>Serviço "biblioteca" (porta 8001).</a:t>
            </a:r>
          </a:p>
          <a:p>
            <a:pPr lvl="1"/>
            <a:r>
              <a:rPr lang="pt-BR" dirty="0"/>
              <a:t>Indexar documentos textuais.</a:t>
            </a:r>
          </a:p>
          <a:p>
            <a:pPr lvl="1"/>
            <a:r>
              <a:rPr lang="pt-BR" dirty="0"/>
              <a:t>Permitir a busca semântica.</a:t>
            </a:r>
          </a:p>
          <a:p>
            <a:r>
              <a:rPr lang="pt-BR" b="1" dirty="0"/>
              <a:t>Funcionalidades:</a:t>
            </a:r>
            <a:endParaRPr lang="pt-BR" dirty="0"/>
          </a:p>
          <a:p>
            <a:pPr lvl="1"/>
            <a:r>
              <a:rPr lang="pt-BR" b="1" dirty="0"/>
              <a:t>Geração de </a:t>
            </a:r>
            <a:r>
              <a:rPr lang="pt-BR" b="1" dirty="0" err="1"/>
              <a:t>Embedding</a:t>
            </a:r>
            <a:r>
              <a:rPr lang="pt-BR" b="1" dirty="0"/>
              <a:t>:</a:t>
            </a:r>
            <a:r>
              <a:rPr lang="pt-BR" dirty="0"/>
              <a:t> Converte texto em vetores.</a:t>
            </a:r>
          </a:p>
          <a:p>
            <a:pPr lvl="1"/>
            <a:r>
              <a:rPr lang="pt-BR" b="1" dirty="0"/>
              <a:t>Indexação de Documentos:</a:t>
            </a:r>
            <a:r>
              <a:rPr lang="pt-BR" dirty="0"/>
              <a:t> Carrega, divide e salva documentos no vector store.</a:t>
            </a:r>
          </a:p>
          <a:p>
            <a:pPr lvl="1"/>
            <a:r>
              <a:rPr lang="pt-BR" b="1" dirty="0"/>
              <a:t>Motor de Busca:</a:t>
            </a:r>
            <a:r>
              <a:rPr lang="pt-BR" dirty="0"/>
              <a:t> Recebe uma query, </a:t>
            </a:r>
            <a:r>
              <a:rPr lang="pt-BR" dirty="0" err="1"/>
              <a:t>vetoriza</a:t>
            </a:r>
            <a:r>
              <a:rPr lang="pt-BR" dirty="0"/>
              <a:t>, busca e filtra os resultados.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4970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0C333-32C5-47A8-850F-75E40216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 </a:t>
            </a:r>
            <a:r>
              <a:rPr lang="pt-BR" dirty="0" err="1"/>
              <a:t>MCP</a:t>
            </a:r>
            <a:r>
              <a:rPr lang="pt-BR" dirty="0"/>
              <a:t> (Ferramentas)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0F9565-1ACA-422B-98F0-ABC5EE39C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Responsabilidades:</a:t>
            </a:r>
            <a:endParaRPr lang="pt-BR" dirty="0"/>
          </a:p>
          <a:p>
            <a:pPr lvl="1"/>
            <a:r>
              <a:rPr lang="pt-BR" dirty="0"/>
              <a:t>Serviço de "ferramentas" (porta 8003).</a:t>
            </a:r>
          </a:p>
          <a:p>
            <a:pPr lvl="1"/>
            <a:r>
              <a:rPr lang="pt-BR" dirty="0"/>
              <a:t>Expor ações (Tools) e dados (</a:t>
            </a:r>
            <a:r>
              <a:rPr lang="pt-BR" dirty="0" err="1"/>
              <a:t>Resources</a:t>
            </a:r>
            <a:r>
              <a:rPr lang="pt-BR" dirty="0"/>
              <a:t>) de forma estruturada para os Agentes de IA.</a:t>
            </a:r>
          </a:p>
          <a:p>
            <a:r>
              <a:rPr lang="pt-BR" b="1" dirty="0"/>
              <a:t>Funcionalidades:</a:t>
            </a:r>
            <a:endParaRPr lang="pt-BR" dirty="0"/>
          </a:p>
          <a:p>
            <a:pPr lvl="1"/>
            <a:r>
              <a:rPr lang="pt-BR" b="1" dirty="0"/>
              <a:t>Cliente de API Externa:</a:t>
            </a:r>
            <a:r>
              <a:rPr lang="pt-BR" dirty="0"/>
              <a:t> Gerencia chamadas para APIs públicas.</a:t>
            </a:r>
          </a:p>
          <a:p>
            <a:pPr lvl="1"/>
            <a:r>
              <a:rPr lang="pt-BR" b="1" dirty="0"/>
              <a:t>Lógica de Validação Pura:</a:t>
            </a:r>
            <a:r>
              <a:rPr lang="pt-BR" dirty="0"/>
              <a:t> Algoritmos para validar dígitos de CNPJ e Chave de Acesso.</a:t>
            </a:r>
          </a:p>
          <a:p>
            <a:pPr lvl="1"/>
            <a:r>
              <a:rPr lang="pt-BR" b="1" dirty="0"/>
              <a:t>Lógica de Cálculo Pura:</a:t>
            </a:r>
            <a:r>
              <a:rPr lang="pt-BR" dirty="0"/>
              <a:t> Regras de negócio para cálculo de impostos.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3306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81F75-B4F7-4225-B6B4-CEE9993E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Segurança e Autenticação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B79067-230F-4A61-8DED-AF5E096CE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Variáveis de Ambiente (.</a:t>
            </a:r>
            <a:r>
              <a:rPr lang="pt-BR" b="1" dirty="0" err="1"/>
              <a:t>env</a:t>
            </a:r>
            <a:r>
              <a:rPr lang="pt-BR" b="1" dirty="0"/>
              <a:t>):</a:t>
            </a:r>
            <a:r>
              <a:rPr lang="pt-BR" dirty="0"/>
              <a:t> Gerenciamento de credenciais fora do código-fonte.</a:t>
            </a:r>
          </a:p>
          <a:p>
            <a:r>
              <a:rPr lang="pt-BR" b="1" dirty="0"/>
              <a:t>Autenticação </a:t>
            </a:r>
            <a:r>
              <a:rPr lang="pt-BR" b="1" dirty="0" err="1"/>
              <a:t>JWT</a:t>
            </a:r>
            <a:r>
              <a:rPr lang="pt-BR" b="1" dirty="0"/>
              <a:t>:</a:t>
            </a:r>
            <a:r>
              <a:rPr lang="pt-BR" dirty="0"/>
              <a:t> Rotas preparadas para autenticação baseada em token </a:t>
            </a:r>
            <a:r>
              <a:rPr lang="pt-BR" dirty="0" err="1"/>
              <a:t>JWT</a:t>
            </a:r>
            <a:r>
              <a:rPr lang="pt-BR" dirty="0"/>
              <a:t>.</a:t>
            </a:r>
          </a:p>
          <a:p>
            <a:r>
              <a:rPr lang="pt-BR" b="1" dirty="0"/>
              <a:t>Validação </a:t>
            </a:r>
            <a:r>
              <a:rPr lang="pt-BR" b="1" dirty="0" err="1"/>
              <a:t>Pydantic</a:t>
            </a:r>
            <a:r>
              <a:rPr lang="pt-BR" b="1" dirty="0"/>
              <a:t>:</a:t>
            </a:r>
            <a:r>
              <a:rPr lang="pt-BR" dirty="0"/>
              <a:t> Validação rigorosa dos dados de entrada para prevenir ataques de injeção.</a:t>
            </a:r>
          </a:p>
          <a:p>
            <a:r>
              <a:rPr lang="pt-BR" b="1" dirty="0"/>
              <a:t>Tratamento de Erro:</a:t>
            </a:r>
            <a:r>
              <a:rPr lang="pt-BR" dirty="0"/>
              <a:t> Erros de banco são capturados e traduzidos para respostas HTTP amigáveis.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9863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4E2FC-D906-4ECB-AF1B-2CF8A37F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Implantação e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5B1ED5-C3E1-4EE9-8B8D-EA29FE682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Benefícios Diretos:</a:t>
            </a:r>
            <a:endParaRPr lang="pt-BR" dirty="0"/>
          </a:p>
          <a:p>
            <a:pPr lvl="1"/>
            <a:r>
              <a:rPr lang="pt-BR" dirty="0"/>
              <a:t>Minimização de erros humanos.</a:t>
            </a:r>
          </a:p>
          <a:p>
            <a:pPr lvl="1"/>
            <a:r>
              <a:rPr lang="pt-BR" dirty="0"/>
              <a:t>Conformidade legal contínua.</a:t>
            </a:r>
          </a:p>
          <a:p>
            <a:pPr lvl="1"/>
            <a:r>
              <a:rPr lang="pt-BR" dirty="0"/>
              <a:t>Redução de passivos fiscais.</a:t>
            </a:r>
          </a:p>
          <a:p>
            <a:pPr lvl="1"/>
            <a:r>
              <a:rPr lang="pt-BR" dirty="0"/>
              <a:t>Agilidade na análise e auditoria.</a:t>
            </a:r>
          </a:p>
          <a:p>
            <a:pPr lvl="1"/>
            <a:r>
              <a:rPr lang="pt-BR" dirty="0"/>
              <a:t>Liberação de tempo para tarefas estratégicas.</a:t>
            </a:r>
          </a:p>
          <a:p>
            <a:r>
              <a:rPr lang="pt-BR" b="1" dirty="0"/>
              <a:t>Conclusão:</a:t>
            </a:r>
            <a:r>
              <a:rPr lang="pt-BR" dirty="0"/>
              <a:t> A auditoria fiscal é essencial para empresas que buscam excelência, segurança e eficiência na gestão de dados fiscais e contábeis. Transforme a auditoria em vantagem competitiva.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5141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38B71-019B-411C-9F70-B118CE3E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Integrantes do Grupo 274: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D8BABB-748F-4A2C-997F-522F2D659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yadiradiazgaleano@yahoo.com.br</a:t>
            </a:r>
            <a:endParaRPr lang="pt-BR" dirty="0"/>
          </a:p>
          <a:p>
            <a:r>
              <a:rPr lang="pt-BR" dirty="0">
                <a:hlinkClick r:id="rId3"/>
              </a:rPr>
              <a:t>jsribeiro123@gmail.com</a:t>
            </a:r>
            <a:endParaRPr lang="pt-BR" dirty="0"/>
          </a:p>
          <a:p>
            <a:r>
              <a:rPr lang="pt-BR" dirty="0">
                <a:hlinkClick r:id="rId4"/>
              </a:rPr>
              <a:t>lucasgnuzinho@gmail.com</a:t>
            </a:r>
            <a:endParaRPr lang="pt-BR" dirty="0"/>
          </a:p>
          <a:p>
            <a:r>
              <a:rPr lang="pt-BR" dirty="0">
                <a:hlinkClick r:id="rId5"/>
              </a:rPr>
              <a:t>Gbrognoli53@gmail.com</a:t>
            </a:r>
            <a:endParaRPr lang="pt-BR" dirty="0"/>
          </a:p>
          <a:p>
            <a:r>
              <a:rPr lang="pt-BR" dirty="0">
                <a:hlinkClick r:id="rId6"/>
              </a:rPr>
              <a:t>rxlemos@gmail.com</a:t>
            </a:r>
            <a:endParaRPr lang="pt-BR" dirty="0"/>
          </a:p>
          <a:p>
            <a:r>
              <a:rPr lang="pt-BR" dirty="0">
                <a:hlinkClick r:id="rId7"/>
              </a:rPr>
              <a:t>thi.Henriquemaia@gmail.com</a:t>
            </a:r>
            <a:endParaRPr lang="pt-BR" dirty="0"/>
          </a:p>
          <a:p>
            <a:r>
              <a:rPr lang="pt-BR" dirty="0">
                <a:hlinkClick r:id="rId8"/>
              </a:rPr>
              <a:t>pedrosa.camg@gmail.com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9606258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{AD90B2DF-2BCD-41AD-B0F7-04DE9EA43E68}TF49310879-45c6-4d72-870a-c20bc0dca332ee672e20-e18533c34759</Template>
  <TotalTime>6</TotalTime>
  <Words>799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Trilha de Vapor</vt:lpstr>
      <vt:lpstr>Sistema de Auditoria de Notas Fiscais Eletrônicas</vt:lpstr>
      <vt:lpstr> Introdução</vt:lpstr>
      <vt:lpstr>Visão Geral do Sistema</vt:lpstr>
      <vt:lpstr> Público-Alvo: Quem se Beneficia?</vt:lpstr>
      <vt:lpstr>Vantagens da Auditoria Inteligente</vt:lpstr>
      <vt:lpstr> Arquitetura Geral do Sistema</vt:lpstr>
      <vt:lpstr> Módulo Backend</vt:lpstr>
      <vt:lpstr>Módulo Agents</vt:lpstr>
      <vt:lpstr>Módulo RAG (Retrieval-Augmented Generation)</vt:lpstr>
      <vt:lpstr>Módulo MCP (Ferramentas)</vt:lpstr>
      <vt:lpstr>Segurança e Autenticação</vt:lpstr>
      <vt:lpstr>Implantação e Deploy</vt:lpstr>
      <vt:lpstr>Integrantes do Grupo 274: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Auditoria de Notas Fiscais Eletrônicas</dc:title>
  <dc:creator>yadira diazgaleano</dc:creator>
  <cp:lastModifiedBy>yadira diazgaleano</cp:lastModifiedBy>
  <cp:revision>1</cp:revision>
  <dcterms:created xsi:type="dcterms:W3CDTF">2025-11-03T01:53:49Z</dcterms:created>
  <dcterms:modified xsi:type="dcterms:W3CDTF">2025-11-03T01:59:59Z</dcterms:modified>
</cp:coreProperties>
</file>